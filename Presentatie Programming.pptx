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7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7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9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1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9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66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1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3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7" r:id="rId6"/>
    <p:sldLayoutId id="2147483792" r:id="rId7"/>
    <p:sldLayoutId id="2147483793" r:id="rId8"/>
    <p:sldLayoutId id="2147483794" r:id="rId9"/>
    <p:sldLayoutId id="2147483796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: Shape 103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lotakkoord Groningen: gasputten volgestort met 500 meter cement">
            <a:extLst>
              <a:ext uri="{FF2B5EF4-FFF2-40B4-BE49-F238E27FC236}">
                <a16:creationId xmlns:a16="http://schemas.microsoft.com/office/drawing/2014/main" id="{9AB296EA-ECC9-3494-25FA-836BE4092A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2" r="-1" b="-1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5FAE947-7211-4722-9026-8E874A8A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E45A8EF-1063-1A70-0948-06A4035C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532" y="2523744"/>
            <a:ext cx="5032105" cy="36121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000">
                <a:solidFill>
                  <a:srgbClr val="FFFFFF"/>
                </a:solidFill>
              </a:rPr>
              <a:t>Quantifying Energy Poverty: A Regional Analysis of Dutch Households (2021–2023)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853E504-CE7A-45E8-9030-0BFDACF83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8532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02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3900D67-B242-FCB7-4385-8F6D6A37E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1DA14D-D9D4-C858-C620-D04F9F3BD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9"/>
            <a:ext cx="6183639" cy="584578"/>
          </a:xfrm>
        </p:spPr>
        <p:txBody>
          <a:bodyPr anchor="t">
            <a:normAutofit fontScale="90000"/>
          </a:bodyPr>
          <a:lstStyle/>
          <a:p>
            <a:r>
              <a:rPr lang="nl-NL" sz="3900" dirty="0"/>
              <a:t>Data </a:t>
            </a:r>
            <a:r>
              <a:rPr lang="nl-NL" sz="3900" dirty="0" err="1"/>
              <a:t>used</a:t>
            </a:r>
            <a:r>
              <a:rPr lang="nl-NL" sz="3900" dirty="0"/>
              <a:t> </a:t>
            </a:r>
            <a:r>
              <a:rPr lang="nl-NL" sz="3900" dirty="0" err="1"/>
              <a:t>for</a:t>
            </a:r>
            <a:r>
              <a:rPr lang="nl-NL" sz="3900" dirty="0"/>
              <a:t> </a:t>
            </a:r>
            <a:r>
              <a:rPr lang="nl-NL" sz="3900" dirty="0" err="1"/>
              <a:t>this</a:t>
            </a:r>
            <a:r>
              <a:rPr lang="nl-NL" sz="3900" dirty="0"/>
              <a:t> project</a:t>
            </a:r>
            <a:br>
              <a:rPr lang="nl-NL" sz="6600" dirty="0"/>
            </a:br>
            <a:endParaRPr lang="nl-NL" sz="25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88D8C7F-0EE0-BAA7-F0D5-F0CD2C17E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2438" y="719377"/>
            <a:ext cx="4177905" cy="4542080"/>
          </a:xfrm>
        </p:spPr>
        <p:txBody>
          <a:bodyPr anchor="b">
            <a:normAutofit/>
          </a:bodyPr>
          <a:lstStyle/>
          <a:p>
            <a:endParaRPr lang="nl-NL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D2FBF1-ECF4-A546-96BE-A071A22C7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DB354A-194B-E847-187D-58826253B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4147" y="6203646"/>
            <a:ext cx="402336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2D688DA-C53B-9E87-CE7B-80E1D8080E4C}"/>
              </a:ext>
            </a:extLst>
          </p:cNvPr>
          <p:cNvSpPr txBox="1"/>
          <p:nvPr/>
        </p:nvSpPr>
        <p:spPr>
          <a:xfrm>
            <a:off x="517870" y="1884027"/>
            <a:ext cx="618363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500" dirty="0"/>
              <a:t>CBS data sets</a:t>
            </a:r>
          </a:p>
          <a:p>
            <a:r>
              <a:rPr lang="nl-NL" dirty="0"/>
              <a:t>	- Household </a:t>
            </a:r>
            <a:r>
              <a:rPr lang="nl-NL" dirty="0" err="1"/>
              <a:t>income</a:t>
            </a:r>
            <a:r>
              <a:rPr lang="nl-NL" dirty="0"/>
              <a:t>; </a:t>
            </a:r>
            <a:r>
              <a:rPr lang="nl-NL" dirty="0" err="1"/>
              <a:t>household</a:t>
            </a:r>
            <a:r>
              <a:rPr lang="nl-NL" dirty="0"/>
              <a:t> </a:t>
            </a:r>
            <a:r>
              <a:rPr lang="nl-NL" dirty="0" err="1"/>
              <a:t>characteristics</a:t>
            </a:r>
            <a:r>
              <a:rPr lang="nl-NL" dirty="0"/>
              <a:t>, 	   </a:t>
            </a:r>
            <a:r>
              <a:rPr lang="nl-NL" dirty="0" err="1"/>
              <a:t>region</a:t>
            </a:r>
            <a:r>
              <a:rPr lang="nl-NL" dirty="0"/>
              <a:t> (2024 </a:t>
            </a:r>
            <a:r>
              <a:rPr lang="nl-NL" dirty="0" err="1"/>
              <a:t>classification</a:t>
            </a:r>
            <a:r>
              <a:rPr lang="nl-NL" dirty="0"/>
              <a:t>)</a:t>
            </a:r>
          </a:p>
          <a:p>
            <a:r>
              <a:rPr lang="nl-NL" dirty="0"/>
              <a:t>	- Energy Prices</a:t>
            </a:r>
          </a:p>
          <a:p>
            <a:r>
              <a:rPr lang="nl-NL" dirty="0"/>
              <a:t>	- CBS </a:t>
            </a:r>
            <a:r>
              <a:rPr lang="nl-NL" dirty="0" err="1"/>
              <a:t>guidelines</a:t>
            </a:r>
            <a:r>
              <a:rPr lang="nl-NL" dirty="0"/>
              <a:t> on </a:t>
            </a:r>
            <a:r>
              <a:rPr lang="nl-NL" dirty="0" err="1"/>
              <a:t>normal</a:t>
            </a:r>
            <a:r>
              <a:rPr lang="nl-NL" dirty="0"/>
              <a:t> energy </a:t>
            </a:r>
            <a:r>
              <a:rPr lang="nl-NL" dirty="0" err="1"/>
              <a:t>consumptions</a:t>
            </a:r>
            <a:r>
              <a:rPr lang="nl-NL" dirty="0"/>
              <a:t> 	   of </a:t>
            </a:r>
            <a:r>
              <a:rPr lang="nl-NL" dirty="0" err="1"/>
              <a:t>households</a:t>
            </a:r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A4EED08-EFF0-9B48-64BD-6667E3E39ACE}"/>
              </a:ext>
            </a:extLst>
          </p:cNvPr>
          <p:cNvSpPr txBox="1"/>
          <p:nvPr/>
        </p:nvSpPr>
        <p:spPr>
          <a:xfrm>
            <a:off x="517870" y="3971488"/>
            <a:ext cx="61264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500" dirty="0"/>
              <a:t>Data cleaning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F88EF181-C65F-C709-DB5B-88354C1B4AE7}"/>
              </a:ext>
            </a:extLst>
          </p:cNvPr>
          <p:cNvSpPr txBox="1"/>
          <p:nvPr/>
        </p:nvSpPr>
        <p:spPr>
          <a:xfrm>
            <a:off x="546449" y="4673955"/>
            <a:ext cx="61264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500" dirty="0" err="1"/>
              <a:t>Limitations</a:t>
            </a:r>
            <a:endParaRPr lang="nl-NL" sz="2500" dirty="0"/>
          </a:p>
        </p:txBody>
      </p:sp>
      <p:pic>
        <p:nvPicPr>
          <p:cNvPr id="2050" name="Picture 2" descr="Centraal Bureau voor de Statistiek | CBS">
            <a:extLst>
              <a:ext uri="{FF2B5EF4-FFF2-40B4-BE49-F238E27FC236}">
                <a16:creationId xmlns:a16="http://schemas.microsoft.com/office/drawing/2014/main" id="{C8FA6450-4652-0C0D-3AFC-55C257D81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717" y="657369"/>
            <a:ext cx="4538220" cy="453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59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DA14D-D9D4-C858-C620-D04F9F3BD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9"/>
            <a:ext cx="6183639" cy="584578"/>
          </a:xfrm>
        </p:spPr>
        <p:txBody>
          <a:bodyPr anchor="t">
            <a:normAutofit fontScale="90000"/>
          </a:bodyPr>
          <a:lstStyle/>
          <a:p>
            <a:r>
              <a:rPr lang="nl-NL" sz="3900" dirty="0"/>
              <a:t>New variables</a:t>
            </a:r>
            <a:br>
              <a:rPr lang="nl-NL" sz="6600" dirty="0"/>
            </a:br>
            <a:endParaRPr lang="nl-NL" sz="25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2D688DA-C53B-9E87-CE7B-80E1D8080E4C}"/>
              </a:ext>
            </a:extLst>
          </p:cNvPr>
          <p:cNvSpPr txBox="1"/>
          <p:nvPr/>
        </p:nvSpPr>
        <p:spPr>
          <a:xfrm>
            <a:off x="517870" y="1884027"/>
            <a:ext cx="6183639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500" dirty="0"/>
              <a:t>Energy </a:t>
            </a:r>
            <a:r>
              <a:rPr lang="nl-NL" sz="2500" dirty="0" err="1"/>
              <a:t>burden</a:t>
            </a:r>
            <a:endParaRPr lang="nl-NL" sz="2500" dirty="0"/>
          </a:p>
          <a:p>
            <a:r>
              <a:rPr lang="nl-NL" dirty="0"/>
              <a:t>	</a:t>
            </a:r>
            <a:r>
              <a:rPr lang="nl-NL" dirty="0" err="1"/>
              <a:t>Average</a:t>
            </a:r>
            <a:r>
              <a:rPr lang="nl-NL" dirty="0"/>
              <a:t> </a:t>
            </a:r>
            <a:r>
              <a:rPr lang="nl-NL" dirty="0" err="1"/>
              <a:t>total</a:t>
            </a:r>
            <a:r>
              <a:rPr lang="nl-NL" dirty="0"/>
              <a:t> energy </a:t>
            </a:r>
            <a:r>
              <a:rPr lang="nl-NL" dirty="0" err="1"/>
              <a:t>costs</a:t>
            </a:r>
            <a:r>
              <a:rPr lang="nl-NL" dirty="0"/>
              <a:t> per </a:t>
            </a:r>
            <a:r>
              <a:rPr lang="nl-NL" dirty="0" err="1"/>
              <a:t>year</a:t>
            </a:r>
            <a:r>
              <a:rPr lang="nl-NL" dirty="0"/>
              <a:t> / Dutch 	</a:t>
            </a:r>
            <a:r>
              <a:rPr lang="nl-NL" dirty="0" err="1"/>
              <a:t>median</a:t>
            </a:r>
            <a:r>
              <a:rPr lang="nl-NL" dirty="0"/>
              <a:t> disposable </a:t>
            </a:r>
            <a:r>
              <a:rPr lang="nl-NL" dirty="0" err="1"/>
              <a:t>income</a:t>
            </a:r>
            <a:r>
              <a:rPr lang="nl-NL" dirty="0"/>
              <a:t> </a:t>
            </a:r>
          </a:p>
          <a:p>
            <a:endParaRPr lang="nl-NL" dirty="0"/>
          </a:p>
          <a:p>
            <a:r>
              <a:rPr lang="nl-NL" sz="2500" dirty="0"/>
              <a:t>Gas </a:t>
            </a:r>
            <a:r>
              <a:rPr lang="nl-NL" sz="2500" dirty="0" err="1"/>
              <a:t>burden</a:t>
            </a:r>
            <a:endParaRPr lang="nl-NL" sz="2500" dirty="0"/>
          </a:p>
          <a:p>
            <a:r>
              <a:rPr lang="nl-NL" dirty="0"/>
              <a:t>	</a:t>
            </a:r>
            <a:r>
              <a:rPr lang="nl-NL" dirty="0" err="1"/>
              <a:t>Average</a:t>
            </a:r>
            <a:r>
              <a:rPr lang="nl-NL" dirty="0"/>
              <a:t> </a:t>
            </a:r>
            <a:r>
              <a:rPr lang="nl-NL" dirty="0" err="1"/>
              <a:t>total</a:t>
            </a:r>
            <a:r>
              <a:rPr lang="nl-NL" dirty="0"/>
              <a:t> gas </a:t>
            </a:r>
            <a:r>
              <a:rPr lang="nl-NL" dirty="0" err="1"/>
              <a:t>costs</a:t>
            </a:r>
            <a:r>
              <a:rPr lang="nl-NL" dirty="0"/>
              <a:t> per </a:t>
            </a:r>
            <a:r>
              <a:rPr lang="nl-NL" dirty="0" err="1"/>
              <a:t>year</a:t>
            </a:r>
            <a:r>
              <a:rPr lang="nl-NL" dirty="0"/>
              <a:t> / Dutch </a:t>
            </a:r>
            <a:r>
              <a:rPr lang="nl-NL" dirty="0" err="1"/>
              <a:t>median</a:t>
            </a:r>
            <a:r>
              <a:rPr lang="nl-NL" dirty="0"/>
              <a:t> 	disposable </a:t>
            </a:r>
            <a:r>
              <a:rPr lang="nl-NL" dirty="0" err="1"/>
              <a:t>income</a:t>
            </a:r>
            <a:endParaRPr lang="nl-NL" dirty="0"/>
          </a:p>
          <a:p>
            <a:endParaRPr lang="nl-NL" sz="2500" dirty="0"/>
          </a:p>
          <a:p>
            <a:r>
              <a:rPr lang="nl-NL" sz="2500" dirty="0"/>
              <a:t>Electricity </a:t>
            </a:r>
            <a:r>
              <a:rPr lang="nl-NL" sz="2500" dirty="0" err="1"/>
              <a:t>burden</a:t>
            </a:r>
            <a:r>
              <a:rPr lang="nl-NL" sz="2500" dirty="0"/>
              <a:t> </a:t>
            </a:r>
          </a:p>
          <a:p>
            <a:r>
              <a:rPr lang="nl-NL" dirty="0"/>
              <a:t>	</a:t>
            </a:r>
            <a:r>
              <a:rPr lang="nl-NL" dirty="0" err="1"/>
              <a:t>Average</a:t>
            </a:r>
            <a:r>
              <a:rPr lang="nl-NL" dirty="0"/>
              <a:t> </a:t>
            </a:r>
            <a:r>
              <a:rPr lang="nl-NL" dirty="0" err="1"/>
              <a:t>total</a:t>
            </a:r>
            <a:r>
              <a:rPr lang="nl-NL" dirty="0"/>
              <a:t> </a:t>
            </a:r>
            <a:r>
              <a:rPr lang="nl-NL" dirty="0" err="1"/>
              <a:t>electricity</a:t>
            </a:r>
            <a:r>
              <a:rPr lang="nl-NL" dirty="0"/>
              <a:t> </a:t>
            </a:r>
            <a:r>
              <a:rPr lang="nl-NL" dirty="0" err="1"/>
              <a:t>costs</a:t>
            </a:r>
            <a:r>
              <a:rPr lang="nl-NL" dirty="0"/>
              <a:t> per </a:t>
            </a:r>
            <a:r>
              <a:rPr lang="nl-NL" dirty="0" err="1"/>
              <a:t>year</a:t>
            </a:r>
            <a:r>
              <a:rPr lang="nl-NL" dirty="0"/>
              <a:t> / Dutch 	</a:t>
            </a:r>
            <a:r>
              <a:rPr lang="nl-NL" dirty="0" err="1"/>
              <a:t>median</a:t>
            </a:r>
            <a:r>
              <a:rPr lang="nl-NL" dirty="0"/>
              <a:t> disposable </a:t>
            </a:r>
            <a:r>
              <a:rPr lang="nl-NL" dirty="0" err="1"/>
              <a:t>income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694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1AF5A2-41AD-9B1F-4DBF-494C4618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352080"/>
            <a:ext cx="3566452" cy="17418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Temporal Analysis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3FAF089-86B4-F7A8-9773-6FF9C95C8ADA}"/>
              </a:ext>
            </a:extLst>
          </p:cNvPr>
          <p:cNvSpPr txBox="1"/>
          <p:nvPr/>
        </p:nvSpPr>
        <p:spPr>
          <a:xfrm>
            <a:off x="517868" y="3093952"/>
            <a:ext cx="3566453" cy="17418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 of energy burden (2021-2023)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Tijdelijke aanduiding voor inhoud 5" descr="Afbeelding met lijn, Perceel, tekst, nummer&#10;&#10;Automatisch gegenereerde beschrijving">
            <a:extLst>
              <a:ext uri="{FF2B5EF4-FFF2-40B4-BE49-F238E27FC236}">
                <a16:creationId xmlns:a16="http://schemas.microsoft.com/office/drawing/2014/main" id="{8A2567F2-2312-C538-1645-CB5747972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7595" y="1352080"/>
            <a:ext cx="7333488" cy="4253423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9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1AF5A2-41AD-9B1F-4DBF-494C4618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1388748"/>
            <a:ext cx="3566452" cy="17418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Spatial Analysis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3FAF089-86B4-F7A8-9773-6FF9C95C8ADA}"/>
              </a:ext>
            </a:extLst>
          </p:cNvPr>
          <p:cNvSpPr txBox="1"/>
          <p:nvPr/>
        </p:nvSpPr>
        <p:spPr>
          <a:xfrm>
            <a:off x="517868" y="3231429"/>
            <a:ext cx="3566453" cy="17418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Regional energy burden 2023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Tijdelijke aanduiding voor inhoud 5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5BC33754-D9D1-292A-63CF-6E672A223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7595" y="1388748"/>
            <a:ext cx="7333488" cy="4180088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1AF5A2-41AD-9B1F-4DBF-494C4618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Sub-population Analysis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3FAF089-86B4-F7A8-9773-6FF9C95C8ADA}"/>
              </a:ext>
            </a:extLst>
          </p:cNvPr>
          <p:cNvSpPr txBox="1"/>
          <p:nvPr/>
        </p:nvSpPr>
        <p:spPr>
          <a:xfrm>
            <a:off x="517868" y="4214945"/>
            <a:ext cx="3566453" cy="17418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Cities vs. Provinces 2023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Tijdelijke aanduiding voor inhoud 10" descr="Afbeelding met tekst, diagram, schermopname, lijn&#10;&#10;Automatisch gegenereerde beschrijving">
            <a:extLst>
              <a:ext uri="{FF2B5EF4-FFF2-40B4-BE49-F238E27FC236}">
                <a16:creationId xmlns:a16="http://schemas.microsoft.com/office/drawing/2014/main" id="{2748F911-3ABB-7CCB-A24B-4F0B8D40D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7595" y="1361248"/>
            <a:ext cx="7333488" cy="4235088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1AF5A2-41AD-9B1F-4DBF-494C4618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516630"/>
            <a:ext cx="3566452" cy="154318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Event Analysis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47001FE-F13D-7CA2-7D23-C62B30403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8" y="3154138"/>
            <a:ext cx="3566453" cy="1741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Impact of the 2022 energy crisis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Afbeelding 5" descr="Afbeelding met tekst, diagram, lijn, Plan&#10;&#10;Automatisch gegenereerde beschrijving">
            <a:extLst>
              <a:ext uri="{FF2B5EF4-FFF2-40B4-BE49-F238E27FC236}">
                <a16:creationId xmlns:a16="http://schemas.microsoft.com/office/drawing/2014/main" id="{9F8FE642-09A0-460C-F974-4AE7C2CD4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95" y="1397915"/>
            <a:ext cx="7333488" cy="416175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0067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134</Words>
  <Application>Microsoft Macintosh PowerPoint</Application>
  <PresentationFormat>Breedbeeld</PresentationFormat>
  <Paragraphs>25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Quantifying Energy Poverty: A Regional Analysis of Dutch Households (2021–2023)</vt:lpstr>
      <vt:lpstr>Data used for this project </vt:lpstr>
      <vt:lpstr>New variables </vt:lpstr>
      <vt:lpstr>Temporal Analysis</vt:lpstr>
      <vt:lpstr>Spatial Analysis</vt:lpstr>
      <vt:lpstr>Sub-population Analysis</vt:lpstr>
      <vt:lpstr>Event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Energy Poverty: A Regional Analysis of Dutch Households (2021–2023)</dc:title>
  <dc:creator>Goedegebuure, M.M. (Matthijs)</dc:creator>
  <cp:lastModifiedBy>Goedegebuure, M.M. (Matthijs)</cp:lastModifiedBy>
  <cp:revision>1</cp:revision>
  <dcterms:created xsi:type="dcterms:W3CDTF">2026-06-17T07:19:10Z</dcterms:created>
  <dcterms:modified xsi:type="dcterms:W3CDTF">2026-06-17T08:21:58Z</dcterms:modified>
</cp:coreProperties>
</file>